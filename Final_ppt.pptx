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68" r:id="rId14"/>
    <p:sldId id="276" r:id="rId15"/>
    <p:sldId id="277" r:id="rId1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Comparative Analysis of Remote vs. In-Office Work Models on Employee Productivity and Well-being</a:t>
            </a:r>
          </a:p>
          <a:p>
            <a:pPr algn="ctr"/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Team Members</a:t>
            </a:r>
          </a:p>
          <a:p>
            <a:pPr algn="ctr"/>
            <a:r>
              <a:rPr lang="en-IN" sz="2000" dirty="0"/>
              <a:t>Ajay Kumar                             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2210991210</a:t>
            </a:r>
          </a:p>
          <a:p>
            <a:pPr algn="ctr"/>
            <a:r>
              <a:rPr lang="en-IN" dirty="0"/>
              <a:t>Manav Singh        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2210990553</a:t>
            </a: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ctr"/>
            <a:r>
              <a:rPr lang="en-IN" sz="2000" dirty="0"/>
              <a:t>Ankit Garg                               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2210991378</a:t>
            </a:r>
          </a:p>
          <a:p>
            <a:pPr algn="ctr"/>
            <a:r>
              <a:rPr lang="en-IN" sz="2000" dirty="0"/>
              <a:t>Sahil Bansal      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                        2210992219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By: </a:t>
            </a:r>
            <a:r>
              <a:rPr lang="en-IN" dirty="0"/>
              <a:t>Dr. Preeti Saini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859536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71C1EE-280B-BCD4-2134-89131C93A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95" y="1133854"/>
            <a:ext cx="9072209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modern workplace has evolved significantly due to digital technologies and flexible work culture. 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COVID-19 pandemic accelerated the adoption of remote and hybrid work models globally. 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are now balancing productivity, collaboration, and employee well-being. 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work model has become a strategic challenge for companies. 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Focus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Work 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In-Office Work 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Work 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on: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Productivity 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Workplace Well-being 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Work–Life Balance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FC600-E55D-23B8-C89D-6A8613CBC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E7BF2EE5-269D-5BCC-3B4D-22E72F770585}"/>
              </a:ext>
            </a:extLst>
          </p:cNvPr>
          <p:cNvSpPr txBox="1"/>
          <p:nvPr/>
        </p:nvSpPr>
        <p:spPr>
          <a:xfrm>
            <a:off x="0" y="0"/>
            <a:ext cx="6373368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Problem Statement &amp; Objectives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1791AFE9-FC7D-E10C-6CB1-DCD30C8C492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4B50CE-713B-96DB-F6FC-6EFBC9ABD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91" y="1590403"/>
            <a:ext cx="9072209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lack a clear comparative understanding of different work models.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studies focus only on productivity, while others focus on well-being.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 need evidence-based insights to design future work policies.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productivity across remote, in-office, and hybrid work.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employee well-being and work–life balance.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survey-based validation using respondent data.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 the most effective work model for long-term sustainability.</a:t>
            </a:r>
          </a:p>
        </p:txBody>
      </p:sp>
    </p:spTree>
    <p:extLst>
      <p:ext uri="{BB962C8B-B14F-4D97-AF65-F5344CB8AC3E}">
        <p14:creationId xmlns:p14="http://schemas.microsoft.com/office/powerpoint/2010/main" val="2073568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B75F9-1312-F34A-9CEC-AB43D4DA9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D5EBB977-2501-7761-C2DB-F3734CC7D47A}"/>
              </a:ext>
            </a:extLst>
          </p:cNvPr>
          <p:cNvSpPr txBox="1"/>
          <p:nvPr/>
        </p:nvSpPr>
        <p:spPr>
          <a:xfrm>
            <a:off x="859536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Research 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CDAAD20D-FF3A-DB58-7EC0-00F18C8B5B49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92E66F-B591-092A-A331-EF8411C22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91" y="473336"/>
            <a:ext cx="9072209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Mixed-Method Research: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Research (Research Papers &amp; Industry Reports)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Research (Survey of 50 Respondents)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Peer-reviewed papers (2022–2025)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reports (McKinsey, Stanford, etc.)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survey responses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Score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Well-being Score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Performance Score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(Data Analysis)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Forms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(Graphs &amp; Charts)</a:t>
            </a:r>
          </a:p>
        </p:txBody>
      </p:sp>
    </p:spTree>
    <p:extLst>
      <p:ext uri="{BB962C8B-B14F-4D97-AF65-F5344CB8AC3E}">
        <p14:creationId xmlns:p14="http://schemas.microsoft.com/office/powerpoint/2010/main" val="1290919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3E8AF-1560-1B6F-9F6E-74A31E5DA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C1F0920A-FBB0-5445-9958-BA8020D2671C}"/>
              </a:ext>
            </a:extLst>
          </p:cNvPr>
          <p:cNvSpPr txBox="1"/>
          <p:nvPr/>
        </p:nvSpPr>
        <p:spPr>
          <a:xfrm>
            <a:off x="-451104" y="0"/>
            <a:ext cx="7969504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Proposed Solution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33D0301-3566-380C-6322-9D0327805DC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1EF6FC-0DE4-288B-6304-345A26A14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91" y="667906"/>
            <a:ext cx="9072209" cy="6036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My Buddy provides: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creation and management system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event search using Elastic Search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Geolocation-based nearby event recommendations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user authentication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chat between participants and creators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of the System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Registration/Login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or Explore Events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Event Recommendation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Event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Chat &amp; Interaction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Meaningful Connections</a:t>
            </a:r>
          </a:p>
        </p:txBody>
      </p:sp>
    </p:spTree>
    <p:extLst>
      <p:ext uri="{BB962C8B-B14F-4D97-AF65-F5344CB8AC3E}">
        <p14:creationId xmlns:p14="http://schemas.microsoft.com/office/powerpoint/2010/main" val="1951389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46921-6679-3F3B-EAFA-FB56DB847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754F3A34-D3A5-9161-C6BD-ACF7E712FC03}"/>
              </a:ext>
            </a:extLst>
          </p:cNvPr>
          <p:cNvSpPr txBox="1"/>
          <p:nvPr/>
        </p:nvSpPr>
        <p:spPr>
          <a:xfrm>
            <a:off x="-451104" y="0"/>
            <a:ext cx="7969504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Proposed Hybrid Model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53CF09C3-3688-2E71-7848-CAEF532F4247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9D9F4C-D11C-ECE0-B3A1-7B5944D27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91" y="870238"/>
            <a:ext cx="9072209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Overview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Remote Days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Focused individual work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In-Office Days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Collaboration &amp; team interaction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Days: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concentration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schedule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commuting stress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 Days: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collaboration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Mentoring &amp; communication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Stronger team bonding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Hybrid?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hybrid model combines: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Productivity benefits of remote work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Well-being benefits of office work</a:t>
            </a:r>
          </a:p>
        </p:txBody>
      </p:sp>
    </p:spTree>
    <p:extLst>
      <p:ext uri="{BB962C8B-B14F-4D97-AF65-F5344CB8AC3E}">
        <p14:creationId xmlns:p14="http://schemas.microsoft.com/office/powerpoint/2010/main" val="849716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32523-8DEC-4A09-7856-53A3DE803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71EB8C6D-DF17-CCDC-7C02-17AA5DF92914}"/>
              </a:ext>
            </a:extLst>
          </p:cNvPr>
          <p:cNvSpPr txBox="1"/>
          <p:nvPr/>
        </p:nvSpPr>
        <p:spPr>
          <a:xfrm>
            <a:off x="-451104" y="0"/>
            <a:ext cx="7969504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Comparative Analysis &amp; Results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ED04A4AB-4EC7-93F3-83D0-77A5E0D4685D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B2D2388-8F94-C769-54AD-09F37D3FE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572309"/>
              </p:ext>
            </p:extLst>
          </p:nvPr>
        </p:nvGraphicFramePr>
        <p:xfrm>
          <a:off x="172720" y="837720"/>
          <a:ext cx="8229600" cy="33223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80019384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1954658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634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Comparison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540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560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737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977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557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623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453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24731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96EF3D-5E3E-6D72-156F-7486532A9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038147"/>
              </p:ext>
            </p:extLst>
          </p:nvPr>
        </p:nvGraphicFramePr>
        <p:xfrm>
          <a:off x="172720" y="1767360"/>
          <a:ext cx="8211312" cy="1463040"/>
        </p:xfrm>
        <a:graphic>
          <a:graphicData uri="http://schemas.openxmlformats.org/drawingml/2006/table">
            <a:tbl>
              <a:tblPr/>
              <a:tblGrid>
                <a:gridCol w="2039112">
                  <a:extLst>
                    <a:ext uri="{9D8B030D-6E8A-4147-A177-3AD203B41FA5}">
                      <a16:colId xmlns:a16="http://schemas.microsoft.com/office/drawing/2014/main" val="4225855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6124767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95779395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018410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Work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Productivity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Well-being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Combined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909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Remote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7.25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174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In-Office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6.75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376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Hybrid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8.75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6165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FA9DB88-C29A-CCEA-C038-BC43BC19918A}"/>
              </a:ext>
            </a:extLst>
          </p:cNvPr>
          <p:cNvSpPr txBox="1"/>
          <p:nvPr/>
        </p:nvSpPr>
        <p:spPr>
          <a:xfrm>
            <a:off x="172720" y="3674321"/>
            <a:ext cx="82946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work gives higher productivity but lower well-being.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In-office work improves collaboration but reduces flexibility.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work achieves the best balance between both.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Employee retention and overall job satisfaction are highest when a balanced, hybrid model is implemented.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Clear communication strategies are essential in flexible environments to prevent digital burnout and protect employee mental health.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50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68310-ABC6-B12E-7F44-55978A9BF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6435ECF9-27A6-32C1-E609-6C57CE25D604}"/>
              </a:ext>
            </a:extLst>
          </p:cNvPr>
          <p:cNvSpPr txBox="1"/>
          <p:nvPr/>
        </p:nvSpPr>
        <p:spPr>
          <a:xfrm>
            <a:off x="-451104" y="0"/>
            <a:ext cx="7969504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Bar Graph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A9A0A48-CC8A-231D-755A-D4E48DDDB407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05F43F-77AF-4197-529B-CBD15FD0E0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04558" y="1948784"/>
            <a:ext cx="6113842" cy="367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165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1EB6-CAB2-0F10-2801-E5A4D86C6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AE4D892-7AD6-6220-9BA5-C6E9862B3CC9}"/>
              </a:ext>
            </a:extLst>
          </p:cNvPr>
          <p:cNvSpPr txBox="1"/>
          <p:nvPr/>
        </p:nvSpPr>
        <p:spPr>
          <a:xfrm>
            <a:off x="-451104" y="0"/>
            <a:ext cx="7969504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Survey Analysis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1705A49F-B5B1-29B8-0A61-15A044CD2555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548767-E67D-4B2C-5D06-FA098A04052E}"/>
              </a:ext>
            </a:extLst>
          </p:cNvPr>
          <p:cNvSpPr txBox="1"/>
          <p:nvPr/>
        </p:nvSpPr>
        <p:spPr>
          <a:xfrm>
            <a:off x="198882" y="1356098"/>
            <a:ext cx="48051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Results (50 Respondents)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08222E-1758-5058-E9B9-3F72FBE7D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079241"/>
              </p:ext>
            </p:extLst>
          </p:nvPr>
        </p:nvGraphicFramePr>
        <p:xfrm>
          <a:off x="198882" y="1851501"/>
          <a:ext cx="8229600" cy="14630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0248806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8818388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Work Preference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Percentage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395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Hybrid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576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Remote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668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In-Office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1027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BFD2B91-6FAF-92EE-3DE9-92870398CC94}"/>
              </a:ext>
            </a:extLst>
          </p:cNvPr>
          <p:cNvSpPr txBox="1"/>
          <p:nvPr/>
        </p:nvSpPr>
        <p:spPr>
          <a:xfrm>
            <a:off x="198882" y="3470577"/>
            <a:ext cx="8487558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respondents preferred Hybrid Work.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value both flexibility and collaboration.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work is considered the most sustainable future work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balanced schedule positively impacts overall employee well-being and reduces burnout.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Self-reported productivity levels remained stable or increased within a flexible environment.</a:t>
            </a:r>
          </a:p>
        </p:txBody>
      </p:sp>
    </p:spTree>
    <p:extLst>
      <p:ext uri="{BB962C8B-B14F-4D97-AF65-F5344CB8AC3E}">
        <p14:creationId xmlns:p14="http://schemas.microsoft.com/office/powerpoint/2010/main" val="2307632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72B74D-6B81-87E1-9990-7A5CCA6CDD4A}"/>
              </a:ext>
            </a:extLst>
          </p:cNvPr>
          <p:cNvSpPr txBox="1"/>
          <p:nvPr/>
        </p:nvSpPr>
        <p:spPr>
          <a:xfrm>
            <a:off x="2916936" y="136800"/>
            <a:ext cx="45902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A1E2A5-A77E-D594-B152-833366B66D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39253" y="1899623"/>
            <a:ext cx="6465493" cy="388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48EFE-4213-ABC0-E531-2CA9BF71C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05354808-FB0E-E312-36F1-6E0D115772FE}"/>
              </a:ext>
            </a:extLst>
          </p:cNvPr>
          <p:cNvSpPr txBox="1"/>
          <p:nvPr/>
        </p:nvSpPr>
        <p:spPr>
          <a:xfrm>
            <a:off x="-451104" y="0"/>
            <a:ext cx="7969504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Conclusion &amp; Future Scope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F50816E8-AEDC-0232-B06B-5533B681466D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9D8886-F5EA-C297-FEC5-DED86053C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91" y="1128738"/>
            <a:ext cx="9072209" cy="511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single pure work model is completely effective.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work improves focus but reduces social interaction.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In-office work improves collaboration but creates stress and distractions.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3:2 Hybrid Model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the best overall performance.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employee productivity analysis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Industry-wise hybrid model research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employee surveys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collaboration tool integration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and burnout tracking systems</a:t>
            </a:r>
          </a:p>
        </p:txBody>
      </p:sp>
    </p:spTree>
    <p:extLst>
      <p:ext uri="{BB962C8B-B14F-4D97-AF65-F5344CB8AC3E}">
        <p14:creationId xmlns:p14="http://schemas.microsoft.com/office/powerpoint/2010/main" val="1178840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DD042-8EA5-3308-9224-79045DFB8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24244376-D88C-2B41-0446-992E297779EE}"/>
              </a:ext>
            </a:extLst>
          </p:cNvPr>
          <p:cNvSpPr txBox="1"/>
          <p:nvPr/>
        </p:nvSpPr>
        <p:spPr>
          <a:xfrm>
            <a:off x="-451104" y="0"/>
            <a:ext cx="7969504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35215802-3B19-F9CD-51AB-9C30C727C40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A2671-87D5-C249-D861-D359299A2E6C}"/>
              </a:ext>
            </a:extLst>
          </p:cNvPr>
          <p:cNvSpPr txBox="1"/>
          <p:nvPr/>
        </p:nvSpPr>
        <p:spPr>
          <a:xfrm>
            <a:off x="2969514" y="3075057"/>
            <a:ext cx="48051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36542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34822</TotalTime>
  <Words>656</Words>
  <Application>Microsoft Office PowerPoint</Application>
  <PresentationFormat>On-screen Show (4:3)</PresentationFormat>
  <Paragraphs>159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Amarjeet singh</cp:lastModifiedBy>
  <cp:revision>2305</cp:revision>
  <dcterms:created xsi:type="dcterms:W3CDTF">2010-04-09T07:36:15Z</dcterms:created>
  <dcterms:modified xsi:type="dcterms:W3CDTF">2026-05-18T18:15:15Z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